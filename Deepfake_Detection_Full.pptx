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254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792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2571750"/>
          </a:xfrm>
          <a:prstGeom prst="rect">
            <a:avLst/>
          </a:prstGeom>
          <a:solidFill>
            <a:srgbClr val="3CBBC8"/>
          </a:solidFill>
          <a:ln w="12700">
            <a:solidFill>
              <a:srgbClr val="3CBB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571750"/>
            <a:ext cx="128016" cy="257175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28016" y="960120"/>
            <a:ext cx="9015984" cy="3017520"/>
          </a:xfrm>
          <a:prstGeom prst="rect">
            <a:avLst/>
          </a:prstGeom>
          <a:solidFill>
            <a:srgbClr val="12203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7472" y="181051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CBAM CNN  ·  WGC-Net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47472" y="23591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Architectures with Explicit Mathematical Priors for Manipulation Detection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" y="2944368"/>
            <a:ext cx="8430768" cy="0"/>
          </a:xfrm>
          <a:prstGeom prst="line">
            <a:avLst/>
          </a:prstGeom>
          <a:noFill/>
          <a:ln w="762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3063240"/>
            <a:ext cx="8430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Walkthrough  ·  Block Diagrams  ·  Attention Mechanisms  ·  Results  ·  Cross-Dataset Strategy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3584448"/>
            <a:ext cx="3657600" cy="1097280"/>
          </a:xfrm>
          <a:prstGeom prst="rect">
            <a:avLst/>
          </a:prstGeom>
          <a:solidFill>
            <a:srgbClr val="0D2030"/>
          </a:solidFill>
          <a:ln w="25400">
            <a:solidFill>
              <a:srgbClr val="3CBB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363931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CBAM CNN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584448"/>
            <a:ext cx="3657600" cy="1097280"/>
          </a:xfrm>
          <a:prstGeom prst="rect">
            <a:avLst/>
          </a:prstGeom>
          <a:solidFill>
            <a:srgbClr val="0D2030"/>
          </a:solidFill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363931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WGC-Net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4754880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Sparsh Rastogi  |  Roll No. 2301AI56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194560"/>
          </a:xfrm>
          <a:prstGeom prst="rect">
            <a:avLst/>
          </a:prstGeom>
          <a:solidFill>
            <a:srgbClr val="0D2535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8016" cy="2194560"/>
          </a:xfrm>
          <a:prstGeom prst="rect">
            <a:avLst/>
          </a:prstGeom>
          <a:solidFill>
            <a:srgbClr val="3CBBC8"/>
          </a:solidFill>
          <a:ln w="12700">
            <a:solidFill>
              <a:srgbClr val="3CBB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48132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178308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CBAM CNN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" y="26334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  ·  RGB + Laplacian Noise  ·  CBAM Attention  ·  99.47% Accuracy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CBAM CNN — Architecture Diagram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115568" y="658368"/>
            <a:ext cx="169164" cy="138988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284732" y="658368"/>
            <a:ext cx="169164" cy="138988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53896" y="658368"/>
            <a:ext cx="169164" cy="1389888"/>
          </a:xfrm>
          <a:prstGeom prst="rect">
            <a:avLst/>
          </a:prstGeom>
          <a:solidFill>
            <a:srgbClr val="B8A0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23060" y="658368"/>
            <a:ext cx="169164" cy="138988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5568" y="2093976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32ch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792224" y="1353312"/>
            <a:ext cx="21031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02536" y="658368"/>
            <a:ext cx="169164" cy="138988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171700" y="658368"/>
            <a:ext cx="169164" cy="138988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340864" y="658368"/>
            <a:ext cx="169164" cy="1389888"/>
          </a:xfrm>
          <a:prstGeom prst="rect">
            <a:avLst/>
          </a:prstGeom>
          <a:solidFill>
            <a:srgbClr val="B8A0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10028" y="658368"/>
            <a:ext cx="169164" cy="138988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02536" y="2093976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64ch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679192" y="1353312"/>
            <a:ext cx="21031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889504" y="658368"/>
            <a:ext cx="169164" cy="138988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058668" y="658368"/>
            <a:ext cx="169164" cy="138988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27832" y="658368"/>
            <a:ext cx="169164" cy="1389888"/>
          </a:xfrm>
          <a:prstGeom prst="rect">
            <a:avLst/>
          </a:prstGeom>
          <a:solidFill>
            <a:srgbClr val="B8A0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396996" y="658368"/>
            <a:ext cx="169164" cy="138988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889504" y="2093976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128ch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566160" y="1353312"/>
            <a:ext cx="21031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76472" y="658368"/>
            <a:ext cx="169164" cy="138988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945636" y="658368"/>
            <a:ext cx="169164" cy="138988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0" y="658368"/>
            <a:ext cx="169164" cy="1389888"/>
          </a:xfrm>
          <a:prstGeom prst="rect">
            <a:avLst/>
          </a:prstGeom>
          <a:solidFill>
            <a:srgbClr val="B8A0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83964" y="658368"/>
            <a:ext cx="169164" cy="138988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76472" y="2093976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256ch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453128" y="1353312"/>
            <a:ext cx="21031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658368"/>
            <a:ext cx="169164" cy="138988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32604" y="658368"/>
            <a:ext cx="169164" cy="138988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01768" y="658368"/>
            <a:ext cx="169164" cy="1389888"/>
          </a:xfrm>
          <a:prstGeom prst="rect">
            <a:avLst/>
          </a:prstGeom>
          <a:solidFill>
            <a:srgbClr val="B8A0D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170932" y="658368"/>
            <a:ext cx="169164" cy="138988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63440" y="2093976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512ch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15568" y="2295144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B8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CBAM attention applied at every stage 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04104" y="658368"/>
            <a:ext cx="301752" cy="1389888"/>
          </a:xfrm>
          <a:prstGeom prst="rect">
            <a:avLst/>
          </a:prstGeom>
          <a:solidFill>
            <a:srgbClr val="FFD16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404104" y="1179576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340096" y="1353312"/>
            <a:ext cx="6400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115568" y="2971800"/>
            <a:ext cx="475488" cy="1005840"/>
          </a:xfrm>
          <a:prstGeom prst="rect">
            <a:avLst/>
          </a:prstGeom>
          <a:solidFill>
            <a:srgbClr val="F4A46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15568" y="311810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</a:t>
            </a:r>
            <a:endParaRPr lang="en-US" sz="580" dirty="0"/>
          </a:p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580" dirty="0"/>
          </a:p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(Frozen)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1591056" y="3474720"/>
            <a:ext cx="21031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801368" y="2971800"/>
            <a:ext cx="169164" cy="1005840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970532" y="2971800"/>
            <a:ext cx="169164" cy="1005840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139696" y="2971800"/>
            <a:ext cx="169164" cy="1005840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801368" y="4023360"/>
            <a:ext cx="5074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32ch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308860" y="3474720"/>
            <a:ext cx="21031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519172" y="2971800"/>
            <a:ext cx="169164" cy="1005840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88336" y="2971800"/>
            <a:ext cx="169164" cy="1005840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857500" y="2971800"/>
            <a:ext cx="169164" cy="1005840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519172" y="4023360"/>
            <a:ext cx="5074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64ch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026664" y="3474720"/>
            <a:ext cx="21031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3236976" y="2971800"/>
            <a:ext cx="169164" cy="1005840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406140" y="2971800"/>
            <a:ext cx="169164" cy="1005840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575304" y="2971800"/>
            <a:ext cx="169164" cy="1005840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36976" y="4023360"/>
            <a:ext cx="5074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128ch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808476" y="2971800"/>
            <a:ext cx="301752" cy="1005840"/>
          </a:xfrm>
          <a:prstGeom prst="rect">
            <a:avLst/>
          </a:prstGeom>
          <a:solidFill>
            <a:srgbClr val="FFD16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808476" y="333756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744468" y="3474720"/>
            <a:ext cx="6400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989320" y="2011680"/>
            <a:ext cx="502920" cy="804672"/>
          </a:xfrm>
          <a:prstGeom prst="rect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989320" y="22128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05856" y="1353312"/>
            <a:ext cx="283464" cy="1060704"/>
          </a:xfrm>
          <a:prstGeom prst="line">
            <a:avLst/>
          </a:prstGeom>
          <a:noFill/>
          <a:ln w="1651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110228" y="3474720"/>
            <a:ext cx="1879092" cy="0"/>
          </a:xfrm>
          <a:prstGeom prst="line">
            <a:avLst/>
          </a:prstGeom>
          <a:noFill/>
          <a:ln w="1651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601968" y="2011680"/>
            <a:ext cx="420624" cy="804672"/>
          </a:xfrm>
          <a:prstGeom prst="rect">
            <a:avLst/>
          </a:prstGeom>
          <a:solidFill>
            <a:srgbClr val="3CBBC8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601968" y="223113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22592" y="2414016"/>
            <a:ext cx="109728" cy="0"/>
          </a:xfrm>
          <a:prstGeom prst="line">
            <a:avLst/>
          </a:prstGeom>
          <a:noFill/>
          <a:ln w="1651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132320" y="2011680"/>
            <a:ext cx="402336" cy="804672"/>
          </a:xfrm>
          <a:prstGeom prst="rect">
            <a:avLst/>
          </a:prstGeom>
          <a:solidFill>
            <a:srgbClr val="ADB5BD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132320" y="22311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534656" y="2414016"/>
            <a:ext cx="109728" cy="0"/>
          </a:xfrm>
          <a:prstGeom prst="line">
            <a:avLst/>
          </a:prstGeom>
          <a:noFill/>
          <a:ln w="1651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644384" y="2011680"/>
            <a:ext cx="402336" cy="804672"/>
          </a:xfrm>
          <a:prstGeom prst="rect">
            <a:avLst/>
          </a:prstGeom>
          <a:solidFill>
            <a:srgbClr val="3CBBC8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644384" y="22311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046720" y="2414016"/>
            <a:ext cx="7315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8119872" y="2185416"/>
            <a:ext cx="0" cy="45720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119872" y="2185416"/>
            <a:ext cx="11887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8174736" y="2075688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8421624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119872" y="2642616"/>
            <a:ext cx="11887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8174736" y="253288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8421624" y="2551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64592" y="822960"/>
            <a:ext cx="566928" cy="694944"/>
          </a:xfrm>
          <a:prstGeom prst="rect">
            <a:avLst/>
          </a:prstGeom>
          <a:solidFill>
            <a:srgbClr val="CCCCCC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164592" y="100584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164592" y="1554480"/>
            <a:ext cx="566928" cy="694944"/>
          </a:xfrm>
          <a:prstGeom prst="rect">
            <a:avLst/>
          </a:prstGeom>
          <a:solidFill>
            <a:srgbClr val="CCCCCC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164592" y="173736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91440" y="12252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731520" y="1353312"/>
            <a:ext cx="384048" cy="0"/>
          </a:xfrm>
          <a:prstGeom prst="line">
            <a:avLst/>
          </a:prstGeom>
          <a:noFill/>
          <a:ln w="1651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448056" y="2249424"/>
            <a:ext cx="0" cy="1225296"/>
          </a:xfrm>
          <a:prstGeom prst="line">
            <a:avLst/>
          </a:prstGeom>
          <a:noFill/>
          <a:ln w="1651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48056" y="3474720"/>
            <a:ext cx="667512" cy="0"/>
          </a:xfrm>
          <a:prstGeom prst="line">
            <a:avLst/>
          </a:prstGeom>
          <a:noFill/>
          <a:ln w="1651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1115568" y="4846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 —  RGB + CBAM Attention  (512ch out)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115568" y="27980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B  —  High-Frequency Noise  (128ch out)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56032" y="4754880"/>
            <a:ext cx="155448" cy="155448"/>
          </a:xfrm>
          <a:prstGeom prst="rect">
            <a:avLst/>
          </a:prstGeom>
          <a:solidFill>
            <a:srgbClr val="F4847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4805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353312" y="4754880"/>
            <a:ext cx="155448" cy="155448"/>
          </a:xfrm>
          <a:prstGeom prst="rect">
            <a:avLst/>
          </a:prstGeom>
          <a:solidFill>
            <a:srgbClr val="82C88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154533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450592" y="4754880"/>
            <a:ext cx="155448" cy="155448"/>
          </a:xfrm>
          <a:prstGeom prst="rect">
            <a:avLst/>
          </a:prstGeom>
          <a:solidFill>
            <a:srgbClr val="B8A0D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264261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 Block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547872" y="4754880"/>
            <a:ext cx="155448" cy="155448"/>
          </a:xfrm>
          <a:prstGeom prst="rect">
            <a:avLst/>
          </a:prstGeom>
          <a:solidFill>
            <a:srgbClr val="7EC8E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73989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MaxPool2D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645152" y="4754880"/>
            <a:ext cx="155448" cy="155448"/>
          </a:xfrm>
          <a:prstGeom prst="rect">
            <a:avLst/>
          </a:prstGeom>
          <a:solidFill>
            <a:srgbClr val="F4A46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83717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742432" y="4754880"/>
            <a:ext cx="155448" cy="155448"/>
          </a:xfrm>
          <a:prstGeom prst="rect">
            <a:avLst/>
          </a:prstGeom>
          <a:solidFill>
            <a:srgbClr val="FFD16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593445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839712" y="4754880"/>
            <a:ext cx="155448" cy="155448"/>
          </a:xfrm>
          <a:prstGeom prst="rect">
            <a:avLst/>
          </a:prstGeom>
          <a:solidFill>
            <a:srgbClr val="4361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703173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936992" y="4754880"/>
            <a:ext cx="155448" cy="155448"/>
          </a:xfrm>
          <a:prstGeom prst="rect">
            <a:avLst/>
          </a:prstGeom>
          <a:solidFill>
            <a:srgbClr val="3CBBC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8129016" y="47548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 Block — Convolutional Block Attention Module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every Conv stage in Stream A to sharpen spatial + channel focus on artifact regions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1508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Channel Attention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22960" cy="868680"/>
          </a:xfrm>
          <a:prstGeom prst="rect">
            <a:avLst/>
          </a:prstGeom>
          <a:solidFill>
            <a:srgbClr val="E8EA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7145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99032" y="1280160"/>
            <a:ext cx="82296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99032" y="13258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(1×1)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21992" y="17145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78024" y="1280160"/>
            <a:ext cx="822960" cy="868680"/>
          </a:xfrm>
          <a:prstGeom prst="rect">
            <a:avLst/>
          </a:prstGeom>
          <a:solidFill>
            <a:srgbClr val="6D687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78024" y="13258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00984" y="17145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557016" y="1280160"/>
            <a:ext cx="40233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57016" y="1325880"/>
            <a:ext cx="402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59352" y="17145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15384" y="1280160"/>
            <a:ext cx="82296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15384" y="13258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38344" y="17145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294376" y="1280160"/>
            <a:ext cx="822960" cy="868680"/>
          </a:xfrm>
          <a:prstGeom prst="rect">
            <a:avLst/>
          </a:prstGeom>
          <a:solidFill>
            <a:srgbClr val="B8A0D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94376" y="13258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17336" y="17145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73368" y="1280160"/>
            <a:ext cx="822960" cy="868680"/>
          </a:xfrm>
          <a:prstGeom prst="rect">
            <a:avLst/>
          </a:prstGeom>
          <a:solidFill>
            <a:srgbClr val="F4847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73368" y="13258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F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2240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(MaxPool path also feeds Shared MLP — outputs are summed)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" y="2743200"/>
            <a:ext cx="8778240" cy="1508760"/>
          </a:xfrm>
          <a:prstGeom prst="rect">
            <a:avLst/>
          </a:prstGeom>
          <a:solidFill>
            <a:srgbClr val="FFF7EC"/>
          </a:solidFill>
          <a:ln w="12700">
            <a:solidFill>
              <a:srgbClr val="FFE4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2816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Spatial Attention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108960"/>
            <a:ext cx="822960" cy="868680"/>
          </a:xfrm>
          <a:prstGeom prst="rect">
            <a:avLst/>
          </a:prstGeom>
          <a:solidFill>
            <a:srgbClr val="E8EA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Ch.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43000" y="35433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399032" y="3108960"/>
            <a:ext cx="822960" cy="868680"/>
          </a:xfrm>
          <a:prstGeom prst="rect">
            <a:avLst/>
          </a:prstGeom>
          <a:solidFill>
            <a:srgbClr val="7EC8E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399032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+ Max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Concat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21992" y="35433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478024" y="3108960"/>
            <a:ext cx="822960" cy="868680"/>
          </a:xfrm>
          <a:prstGeom prst="rect">
            <a:avLst/>
          </a:prstGeom>
          <a:solidFill>
            <a:srgbClr val="3D5A8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478024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00984" y="35433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557016" y="3108960"/>
            <a:ext cx="82296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557016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79976" y="35433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36008" y="3108960"/>
            <a:ext cx="822960" cy="868680"/>
          </a:xfrm>
          <a:prstGeom prst="rect">
            <a:avLst/>
          </a:prstGeom>
          <a:solidFill>
            <a:srgbClr val="B8A0D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36008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58968" y="3543300"/>
            <a:ext cx="256032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715000" y="3108960"/>
            <a:ext cx="822960" cy="868680"/>
          </a:xfrm>
          <a:prstGeom prst="rect">
            <a:avLst/>
          </a:prstGeom>
          <a:solidFill>
            <a:srgbClr val="F4847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71500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F'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 → Spatial Attention applied in sequence. Output = refined feature map with suppressed irrelevant regions.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Results — Dual-Stream CBAM CNN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2286000" cy="1828800"/>
          </a:xfrm>
          <a:prstGeom prst="rect">
            <a:avLst/>
          </a:prstGeom>
          <a:solidFill>
            <a:srgbClr val="0D4A5A"/>
          </a:solidFill>
          <a:ln w="25400">
            <a:solidFill>
              <a:srgbClr val="3CBBC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99.47%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664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0.0157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658368"/>
            <a:ext cx="1280160" cy="420624"/>
          </a:xfrm>
          <a:prstGeom prst="rect">
            <a:avLst/>
          </a:prstGeom>
          <a:solidFill>
            <a:srgbClr val="3CBB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34640" y="65836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658368"/>
            <a:ext cx="1188720" cy="420624"/>
          </a:xfrm>
          <a:prstGeom prst="rect">
            <a:avLst/>
          </a:prstGeom>
          <a:solidFill>
            <a:srgbClr val="3CBB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0" y="65836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658368"/>
            <a:ext cx="1188720" cy="420624"/>
          </a:xfrm>
          <a:prstGeom prst="rect">
            <a:avLst/>
          </a:prstGeom>
          <a:solidFill>
            <a:srgbClr val="3CBB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520" y="65836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658368"/>
            <a:ext cx="1188720" cy="420624"/>
          </a:xfrm>
          <a:prstGeom prst="rect">
            <a:avLst/>
          </a:prstGeom>
          <a:solidFill>
            <a:srgbClr val="3CBB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65836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658368"/>
            <a:ext cx="1188720" cy="420624"/>
          </a:xfrm>
          <a:prstGeom prst="rect">
            <a:avLst/>
          </a:prstGeom>
          <a:solidFill>
            <a:srgbClr val="3CBB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80960" y="65836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1078992"/>
            <a:ext cx="1280160" cy="420624"/>
          </a:xfrm>
          <a:prstGeom prst="rect">
            <a:avLst/>
          </a:prstGeom>
          <a:solidFill>
            <a:srgbClr val="122535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834640" y="10789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1078992"/>
            <a:ext cx="1188720" cy="420624"/>
          </a:xfrm>
          <a:prstGeom prst="rect">
            <a:avLst/>
          </a:prstGeom>
          <a:solidFill>
            <a:srgbClr val="122535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0" y="107899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078992"/>
            <a:ext cx="1188720" cy="420624"/>
          </a:xfrm>
          <a:prstGeom prst="rect">
            <a:avLst/>
          </a:prstGeom>
          <a:solidFill>
            <a:srgbClr val="122535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03520" y="107899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1078992"/>
            <a:ext cx="1188720" cy="420624"/>
          </a:xfrm>
          <a:prstGeom prst="rect">
            <a:avLst/>
          </a:prstGeom>
          <a:solidFill>
            <a:srgbClr val="122535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107899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1078992"/>
            <a:ext cx="1188720" cy="420624"/>
          </a:xfrm>
          <a:prstGeom prst="rect">
            <a:avLst/>
          </a:prstGeom>
          <a:solidFill>
            <a:srgbClr val="122535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80960" y="107899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1499616"/>
            <a:ext cx="1280160" cy="420624"/>
          </a:xfrm>
          <a:prstGeom prst="rect">
            <a:avLst/>
          </a:prstGeom>
          <a:solidFill>
            <a:srgbClr val="0E1E2E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34640" y="149961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1499616"/>
            <a:ext cx="1188720" cy="420624"/>
          </a:xfrm>
          <a:prstGeom prst="rect">
            <a:avLst/>
          </a:prstGeom>
          <a:solidFill>
            <a:srgbClr val="0E1E2E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0" y="149961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1499616"/>
            <a:ext cx="1188720" cy="420624"/>
          </a:xfrm>
          <a:prstGeom prst="rect">
            <a:avLst/>
          </a:prstGeom>
          <a:solidFill>
            <a:srgbClr val="0E1E2E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03520" y="149961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1499616"/>
            <a:ext cx="1188720" cy="420624"/>
          </a:xfrm>
          <a:prstGeom prst="rect">
            <a:avLst/>
          </a:prstGeom>
          <a:solidFill>
            <a:srgbClr val="0E1E2E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0" y="149961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1499616"/>
            <a:ext cx="1188720" cy="420624"/>
          </a:xfrm>
          <a:prstGeom prst="rect">
            <a:avLst/>
          </a:prstGeom>
          <a:solidFill>
            <a:srgbClr val="0E1E2E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680960" y="149961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34640" y="1920240"/>
            <a:ext cx="1280160" cy="420624"/>
          </a:xfrm>
          <a:prstGeom prst="rect">
            <a:avLst/>
          </a:prstGeom>
          <a:solidFill>
            <a:srgbClr val="0D4A5A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834640" y="192024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1920240"/>
            <a:ext cx="1188720" cy="420624"/>
          </a:xfrm>
          <a:prstGeom prst="rect">
            <a:avLst/>
          </a:prstGeom>
          <a:solidFill>
            <a:srgbClr val="0D4A5A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114800" y="19202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1920240"/>
            <a:ext cx="1188720" cy="420624"/>
          </a:xfrm>
          <a:prstGeom prst="rect">
            <a:avLst/>
          </a:prstGeom>
          <a:solidFill>
            <a:srgbClr val="0D4A5A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03520" y="19202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1920240"/>
            <a:ext cx="1188720" cy="420624"/>
          </a:xfrm>
          <a:prstGeom prst="rect">
            <a:avLst/>
          </a:prstGeom>
          <a:solidFill>
            <a:srgbClr val="0D4A5A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92240" y="19202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80960" y="1920240"/>
            <a:ext cx="1188720" cy="420624"/>
          </a:xfrm>
          <a:prstGeom prst="rect">
            <a:avLst/>
          </a:prstGeom>
          <a:solidFill>
            <a:srgbClr val="0D4A5A"/>
          </a:solidFill>
          <a:ln w="6350">
            <a:solidFill>
              <a:srgbClr val="22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680960" y="19202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834640" y="2743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834640" y="3035808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precision &amp; recall — no class bias
</a:t>
            </a:r>
            <a:r>
              <a:rPr lang="en-US" sz="1050" b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RGB from Laplacian noise before the classifier is highly effective
</a:t>
            </a:r>
            <a:r>
              <a:rPr lang="en-US" sz="1050" b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140k Real &amp; Fake Faces (StyleGAN-based, aligned faces)
</a:t>
            </a:r>
            <a:r>
              <a:rPr lang="en-US" sz="1050" b="1" dirty="0">
                <a:solidFill>
                  <a:srgbClr val="3C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evaluation on DFDC / FaceForensics++ is the next challenge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194560"/>
          </a:xfrm>
          <a:prstGeom prst="rect">
            <a:avLst/>
          </a:prstGeom>
          <a:solidFill>
            <a:srgbClr val="1A150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8016" cy="21945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48132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178308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WGC-Net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7472" y="26334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Wavelet-Guided Cross-Attention Network  ·  Early Fusion  ·  98.83% Accuracy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WGC-Net — Architecture Diagram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058668" y="621792"/>
            <a:ext cx="3429000" cy="475488"/>
          </a:xfrm>
          <a:prstGeom prst="rect">
            <a:avLst/>
          </a:prstGeom>
          <a:solidFill>
            <a:srgbClr val="2A9D8F"/>
          </a:solidFill>
          <a:ln w="190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108960" y="612648"/>
            <a:ext cx="33787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Wavelet Extractor  (Frozen — LH, HL, HH kernels, stride=2)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108960" y="11247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wavelet_edges  (3ch — horizontal, vertical, diagonal boundaries)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" y="612648"/>
            <a:ext cx="512064" cy="512064"/>
          </a:xfrm>
          <a:prstGeom prst="rect">
            <a:avLst/>
          </a:prstGeom>
          <a:solidFill>
            <a:srgbClr val="CCCCCC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1168" y="68580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13232" y="850392"/>
            <a:ext cx="2395728" cy="0"/>
          </a:xfrm>
          <a:prstGeom prst="line">
            <a:avLst/>
          </a:prstGeom>
          <a:noFill/>
          <a:ln w="1651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739470"/>
            <a:ext cx="365760" cy="65836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8857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1739470"/>
            <a:ext cx="365760" cy="65836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18857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051560" y="1584022"/>
            <a:ext cx="420624" cy="969264"/>
          </a:xfrm>
          <a:prstGeom prst="rect">
            <a:avLst/>
          </a:prstGeom>
          <a:solidFill>
            <a:srgbClr val="E9C46A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186748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72184" y="1739470"/>
            <a:ext cx="329184" cy="65836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72184" y="188577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244355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32ch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261872" y="1565734"/>
            <a:ext cx="0" cy="18288"/>
          </a:xfrm>
          <a:prstGeom prst="line">
            <a:avLst/>
          </a:prstGeom>
          <a:noFill/>
          <a:ln w="16510">
            <a:solidFill>
              <a:srgbClr val="2A9D8F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01368" y="2068654"/>
            <a:ext cx="146304" cy="0"/>
          </a:xfrm>
          <a:prstGeom prst="line">
            <a:avLst/>
          </a:prstGeom>
          <a:noFill/>
          <a:ln w="1651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947672" y="1739470"/>
            <a:ext cx="365760" cy="65836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47672" y="18857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313432" y="1739470"/>
            <a:ext cx="365760" cy="65836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13432" y="18857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79192" y="1584022"/>
            <a:ext cx="420624" cy="969264"/>
          </a:xfrm>
          <a:prstGeom prst="rect">
            <a:avLst/>
          </a:prstGeom>
          <a:solidFill>
            <a:srgbClr val="E9C46A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679192" y="186748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99816" y="1739470"/>
            <a:ext cx="329184" cy="65836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099816" y="188577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947672" y="244355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64ch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889504" y="1565734"/>
            <a:ext cx="0" cy="18288"/>
          </a:xfrm>
          <a:prstGeom prst="line">
            <a:avLst/>
          </a:prstGeom>
          <a:noFill/>
          <a:ln w="16510">
            <a:solidFill>
              <a:srgbClr val="2A9D8F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429000" y="2068654"/>
            <a:ext cx="146304" cy="0"/>
          </a:xfrm>
          <a:prstGeom prst="line">
            <a:avLst/>
          </a:prstGeom>
          <a:noFill/>
          <a:ln w="1651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575304" y="1739470"/>
            <a:ext cx="365760" cy="658368"/>
          </a:xfrm>
          <a:prstGeom prst="rect">
            <a:avLst/>
          </a:prstGeom>
          <a:solidFill>
            <a:srgbClr val="F4847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575304" y="18857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941064" y="1739470"/>
            <a:ext cx="365760" cy="658368"/>
          </a:xfrm>
          <a:prstGeom prst="rect">
            <a:avLst/>
          </a:prstGeom>
          <a:solidFill>
            <a:srgbClr val="82C8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941064" y="18857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06824" y="1584022"/>
            <a:ext cx="420624" cy="969264"/>
          </a:xfrm>
          <a:prstGeom prst="rect">
            <a:avLst/>
          </a:prstGeom>
          <a:solidFill>
            <a:srgbClr val="E9C46A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06824" y="186748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3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27448" y="1739470"/>
            <a:ext cx="329184" cy="658368"/>
          </a:xfrm>
          <a:prstGeom prst="rect">
            <a:avLst/>
          </a:prstGeom>
          <a:solidFill>
            <a:srgbClr val="7EC8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27448" y="188577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575304" y="244355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128ch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517136" y="1565734"/>
            <a:ext cx="0" cy="18288"/>
          </a:xfrm>
          <a:prstGeom prst="line">
            <a:avLst/>
          </a:prstGeom>
          <a:noFill/>
          <a:ln w="16510">
            <a:solidFill>
              <a:srgbClr val="2A9D8F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32104" y="2068654"/>
            <a:ext cx="0" cy="0"/>
          </a:xfrm>
          <a:prstGeom prst="line">
            <a:avLst/>
          </a:prstGeom>
          <a:noFill/>
          <a:ln w="1651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056632" y="2068654"/>
            <a:ext cx="9144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148072" y="1739470"/>
            <a:ext cx="384048" cy="658368"/>
          </a:xfrm>
          <a:prstGeom prst="rect">
            <a:avLst/>
          </a:prstGeom>
          <a:solidFill>
            <a:srgbClr val="FFD166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148072" y="188577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532120" y="2068654"/>
            <a:ext cx="91440" cy="0"/>
          </a:xfrm>
          <a:prstGeom prst="line">
            <a:avLst/>
          </a:prstGeom>
          <a:noFill/>
          <a:ln w="1397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623560" y="1739470"/>
            <a:ext cx="384048" cy="658368"/>
          </a:xfrm>
          <a:prstGeom prst="rect">
            <a:avLst/>
          </a:prstGeom>
          <a:solidFill>
            <a:srgbClr val="3CBBC8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623560" y="188577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07608" y="2068654"/>
            <a:ext cx="91440" cy="0"/>
          </a:xfrm>
          <a:prstGeom prst="line">
            <a:avLst/>
          </a:prstGeom>
          <a:noFill/>
          <a:ln w="1397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099048" y="1739470"/>
            <a:ext cx="384048" cy="658368"/>
          </a:xfrm>
          <a:prstGeom prst="rect">
            <a:avLst/>
          </a:prstGeom>
          <a:solidFill>
            <a:srgbClr val="ADB5BD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099048" y="188577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483096" y="2068654"/>
            <a:ext cx="91440" cy="0"/>
          </a:xfrm>
          <a:prstGeom prst="line">
            <a:avLst/>
          </a:prstGeom>
          <a:noFill/>
          <a:ln w="1397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574536" y="1739470"/>
            <a:ext cx="384048" cy="658368"/>
          </a:xfrm>
          <a:prstGeom prst="rect">
            <a:avLst/>
          </a:prstGeom>
          <a:solidFill>
            <a:srgbClr val="3CBBC8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574536" y="188577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025384" y="1690702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028432" y="148039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028432" y="2205814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Text 60"/>
          <p:cNvSpPr/>
          <p:nvPr/>
        </p:nvSpPr>
        <p:spPr>
          <a:xfrm>
            <a:off x="8028432" y="199550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01168" y="3017520"/>
            <a:ext cx="8741664" cy="566928"/>
          </a:xfrm>
          <a:prstGeom prst="rect">
            <a:avLst/>
          </a:prstGeom>
          <a:solidFill>
            <a:srgbClr val="FFF8E7"/>
          </a:solidFill>
          <a:ln w="190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20040" y="30632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boundaries injected at 3 depths — spatial convolutions attend to mathematical blending edges at every scale. Stronger inductive bias than late fusion.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01168" y="3776472"/>
            <a:ext cx="164592" cy="164592"/>
          </a:xfrm>
          <a:prstGeom prst="rect">
            <a:avLst/>
          </a:prstGeom>
          <a:solidFill>
            <a:srgbClr val="F4847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11480" y="3776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481328" y="3776472"/>
            <a:ext cx="164592" cy="164592"/>
          </a:xfrm>
          <a:prstGeom prst="rect">
            <a:avLst/>
          </a:prstGeom>
          <a:solidFill>
            <a:srgbClr val="82C88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1691640" y="3776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+ ReLU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761488" y="3776472"/>
            <a:ext cx="164592" cy="164592"/>
          </a:xfrm>
          <a:prstGeom prst="rect">
            <a:avLst/>
          </a:prstGeom>
          <a:solidFill>
            <a:srgbClr val="E9C46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2971800" y="3776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Cross-Attn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041648" y="3776472"/>
            <a:ext cx="164592" cy="164592"/>
          </a:xfrm>
          <a:prstGeom prst="rect">
            <a:avLst/>
          </a:prstGeom>
          <a:solidFill>
            <a:srgbClr val="7EC8E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251960" y="3776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MaxPool2D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321808" y="3776472"/>
            <a:ext cx="164592" cy="164592"/>
          </a:xfrm>
          <a:prstGeom prst="rect">
            <a:avLst/>
          </a:prstGeom>
          <a:solidFill>
            <a:srgbClr val="2A9D8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532120" y="3776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Extractor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601968" y="3776472"/>
            <a:ext cx="164592" cy="164592"/>
          </a:xfrm>
          <a:prstGeom prst="rect">
            <a:avLst/>
          </a:prstGeom>
          <a:solidFill>
            <a:srgbClr val="FFD16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812280" y="3776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882128" y="3776472"/>
            <a:ext cx="164592" cy="164592"/>
          </a:xfrm>
          <a:prstGeom prst="rect">
            <a:avLst/>
          </a:prstGeom>
          <a:solidFill>
            <a:srgbClr val="3CBBC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8092440" y="3776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700" dirty="0"/>
          </a:p>
        </p:txBody>
      </p:sp>
      <p:sp>
        <p:nvSpPr>
          <p:cNvPr id="79" name="Shape 50">
            <a:extLst>
              <a:ext uri="{FF2B5EF4-FFF2-40B4-BE49-F238E27FC236}">
                <a16:creationId xmlns:a16="http://schemas.microsoft.com/office/drawing/2014/main" id="{0079397E-5FAC-D19C-3B05-C6506E47E2D4}"/>
              </a:ext>
            </a:extLst>
          </p:cNvPr>
          <p:cNvSpPr/>
          <p:nvPr/>
        </p:nvSpPr>
        <p:spPr>
          <a:xfrm>
            <a:off x="7165848" y="1739470"/>
            <a:ext cx="505967" cy="658368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700" dirty="0">
              <a:highlight>
                <a:srgbClr val="FF0000"/>
              </a:highlight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1EF899-527F-ED7C-4CF4-32665AC619D2}"/>
              </a:ext>
            </a:extLst>
          </p:cNvPr>
          <p:cNvSpPr txBox="1"/>
          <p:nvPr/>
        </p:nvSpPr>
        <p:spPr>
          <a:xfrm>
            <a:off x="7132319" y="1908521"/>
            <a:ext cx="539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00" dirty="0"/>
          </a:p>
        </p:txBody>
      </p:sp>
      <p:sp>
        <p:nvSpPr>
          <p:cNvPr id="82" name="Shape 28">
            <a:extLst>
              <a:ext uri="{FF2B5EF4-FFF2-40B4-BE49-F238E27FC236}">
                <a16:creationId xmlns:a16="http://schemas.microsoft.com/office/drawing/2014/main" id="{E40EA9E7-63FB-28A7-3355-DBBCA8DAB67C}"/>
              </a:ext>
            </a:extLst>
          </p:cNvPr>
          <p:cNvSpPr/>
          <p:nvPr/>
        </p:nvSpPr>
        <p:spPr>
          <a:xfrm>
            <a:off x="6986015" y="2070764"/>
            <a:ext cx="146304" cy="0"/>
          </a:xfrm>
          <a:prstGeom prst="line">
            <a:avLst/>
          </a:prstGeom>
          <a:noFill/>
          <a:ln w="1651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D0E720-3B0B-B454-2A23-FEAE2B1C78E7}"/>
              </a:ext>
            </a:extLst>
          </p:cNvPr>
          <p:cNvSpPr txBox="1"/>
          <p:nvPr/>
        </p:nvSpPr>
        <p:spPr>
          <a:xfrm>
            <a:off x="8325612" y="1676426"/>
            <a:ext cx="539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dirty="0"/>
              <a:t>TH&gt;0.5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18B409-FEE2-D6DB-9724-47F52CEACD88}"/>
              </a:ext>
            </a:extLst>
          </p:cNvPr>
          <p:cNvSpPr txBox="1"/>
          <p:nvPr/>
        </p:nvSpPr>
        <p:spPr>
          <a:xfrm>
            <a:off x="8325612" y="2115807"/>
            <a:ext cx="539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dirty="0"/>
              <a:t>TH&lt;=0.5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Cross-Attention — The Novel Injection Mechanism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3× inside WGC-Net — guides spatial convolutions with mathematical wavelet truth at each depth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926080" cy="3474720"/>
          </a:xfrm>
          <a:prstGeom prst="rect">
            <a:avLst/>
          </a:prstGeom>
          <a:solidFill>
            <a:srgbClr val="E8F8F7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8328" y="96012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Haar Wavelet Extractor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9768" y="138074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Kernel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(Horizontal Edges)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45920" y="143560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 −1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 +1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96312" y="1581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95144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" y="235000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Kernel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(Vertical Edges)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45920" y="24048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 +1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 +1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6312" y="25511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6440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" y="331927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 Kernel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(Diagonal Edges)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45920" y="337413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 −1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 +1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96312" y="35204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" y="406908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 2  →  Downsamples by 2×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29000" y="868680"/>
            <a:ext cx="5647944" cy="3474720"/>
          </a:xfrm>
          <a:prstGeom prst="rect">
            <a:avLst/>
          </a:prstGeom>
          <a:solidFill>
            <a:srgbClr val="FFFBF0"/>
          </a:solidFill>
          <a:ln w="190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0" y="9601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WaveletCrossAttention — Forward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1371600"/>
            <a:ext cx="804672" cy="868680"/>
          </a:xfrm>
          <a:prstGeom prst="rect">
            <a:avLst/>
          </a:prstGeom>
          <a:solidFill>
            <a:srgbClr val="E8EA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66160" y="1417320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spatial_feat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 ch, H×W)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370832" y="1805940"/>
            <a:ext cx="10972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480560" y="1371600"/>
            <a:ext cx="7498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480560" y="141732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wvlt→HW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30368" y="1805940"/>
            <a:ext cx="10972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40096" y="1371600"/>
            <a:ext cx="749808" cy="868680"/>
          </a:xfrm>
          <a:prstGeom prst="rect">
            <a:avLst/>
          </a:prstGeom>
          <a:solidFill>
            <a:srgbClr val="3D5A8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40096" y="141732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query_conv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S→3ch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89904" y="1805940"/>
            <a:ext cx="10972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99632" y="1371600"/>
            <a:ext cx="475488" cy="868680"/>
          </a:xfrm>
          <a:prstGeom prst="rect">
            <a:avLst/>
          </a:prstGeom>
          <a:solidFill>
            <a:srgbClr val="88888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99632" y="14173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675120" y="1805940"/>
            <a:ext cx="10972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784848" y="1371600"/>
            <a:ext cx="749808" cy="868680"/>
          </a:xfrm>
          <a:prstGeom prst="rect">
            <a:avLst/>
          </a:prstGeom>
          <a:solidFill>
            <a:srgbClr val="3D5A8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784848" y="141732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attn_conv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3ch→S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34656" y="1805940"/>
            <a:ext cx="10972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644384" y="1371600"/>
            <a:ext cx="658368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644384" y="141732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302752" y="1805940"/>
            <a:ext cx="109728" cy="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412480" y="1371600"/>
            <a:ext cx="603504" cy="868680"/>
          </a:xfrm>
          <a:prstGeom prst="rect">
            <a:avLst/>
          </a:prstGeom>
          <a:solidFill>
            <a:srgbClr val="F4847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412480" y="1417320"/>
            <a:ext cx="60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spat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566160" y="2423160"/>
            <a:ext cx="5166360" cy="1851656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657600" y="2496312"/>
            <a:ext cx="4983480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Resize wavelet map to match spatial feature dimensions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wavelet_resized = interpolate(wavelet_edges, size=spatial_feat.shape[2:])</a:t>
            </a:r>
            <a:endParaRPr lang="en-US" sz="720" dirty="0"/>
          </a:p>
          <a:p>
            <a:pPr marL="0" indent="0" algn="l">
              <a:buNone/>
            </a:pP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Compress spatial channels → query in wavelet space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query_conv(spatial_feat)           # [B, S, H, W] → [B, 3, H, W]</a:t>
            </a:r>
            <a:endParaRPr lang="en-US" sz="720" dirty="0"/>
          </a:p>
          <a:p>
            <a:pPr marL="0" indent="0" algn="l">
              <a:buNone/>
            </a:pP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Which spatial regions match wavelet boundaries?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attention_map = query * wavelet_resized</a:t>
            </a:r>
            <a:endParaRPr lang="en-US" sz="720" dirty="0"/>
          </a:p>
          <a:p>
            <a:pPr marL="0" indent="0" algn="l">
              <a:buNone/>
            </a:pP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Expand back and gate the spatial features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attention_weights = sigmoid(attn_conv(attention_map))  # [B, S, H, W]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spatial_feat * attention_weights    # Refined features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 &amp; Cross-Dataset Strategy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01168" y="576072"/>
            <a:ext cx="1828800" cy="457200"/>
          </a:xfrm>
          <a:prstGeom prst="rect">
            <a:avLst/>
          </a:prstGeom>
          <a:solidFill>
            <a:srgbClr val="073B4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576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29968" y="576072"/>
            <a:ext cx="1234440" cy="457200"/>
          </a:xfrm>
          <a:prstGeom prst="rect">
            <a:avLst/>
          </a:prstGeom>
          <a:solidFill>
            <a:srgbClr val="073B4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29968" y="5760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576072"/>
            <a:ext cx="960120" cy="457200"/>
          </a:xfrm>
          <a:prstGeom prst="rect">
            <a:avLst/>
          </a:prstGeom>
          <a:solidFill>
            <a:srgbClr val="073B4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64408" y="57607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24528" y="576072"/>
            <a:ext cx="960120" cy="457200"/>
          </a:xfrm>
          <a:prstGeom prst="rect">
            <a:avLst/>
          </a:prstGeom>
          <a:solidFill>
            <a:srgbClr val="073B4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24528" y="57607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84648" y="576072"/>
            <a:ext cx="1508760" cy="457200"/>
          </a:xfrm>
          <a:prstGeom prst="rect">
            <a:avLst/>
          </a:prstGeom>
          <a:solidFill>
            <a:srgbClr val="073B4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84648" y="5760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93408" y="576072"/>
            <a:ext cx="2249424" cy="457200"/>
          </a:xfrm>
          <a:prstGeom prst="rect">
            <a:avLst/>
          </a:prstGeom>
          <a:solidFill>
            <a:srgbClr val="073B4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93408" y="576072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" y="1033272"/>
            <a:ext cx="1828800" cy="457200"/>
          </a:xfrm>
          <a:prstGeom prst="rect">
            <a:avLst/>
          </a:prstGeom>
          <a:solidFill>
            <a:srgbClr val="E8F2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1168" y="1033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CBAM CNN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29968" y="1033272"/>
            <a:ext cx="1234440" cy="457200"/>
          </a:xfrm>
          <a:prstGeom prst="rect">
            <a:avLst/>
          </a:prstGeom>
          <a:solidFill>
            <a:srgbClr val="D0E8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029968" y="10332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99.47%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1033272"/>
            <a:ext cx="960120" cy="457200"/>
          </a:xfrm>
          <a:prstGeom prst="rect">
            <a:avLst/>
          </a:prstGeom>
          <a:solidFill>
            <a:srgbClr val="E8F2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64408" y="103327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24528" y="1033272"/>
            <a:ext cx="960120" cy="457200"/>
          </a:xfrm>
          <a:prstGeom prst="rect">
            <a:avLst/>
          </a:prstGeom>
          <a:solidFill>
            <a:srgbClr val="D0E8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24528" y="103327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84648" y="1033272"/>
            <a:ext cx="1508760" cy="457200"/>
          </a:xfrm>
          <a:prstGeom prst="rect">
            <a:avLst/>
          </a:prstGeom>
          <a:solidFill>
            <a:srgbClr val="E8F2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84648" y="10332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(FC layer)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93408" y="1033272"/>
            <a:ext cx="2249424" cy="457200"/>
          </a:xfrm>
          <a:prstGeom prst="rect">
            <a:avLst/>
          </a:prstGeom>
          <a:solidFill>
            <a:srgbClr val="D0E8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93408" y="1033272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noise separation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1490472"/>
            <a:ext cx="1828800" cy="457200"/>
          </a:xfrm>
          <a:prstGeom prst="rect">
            <a:avLst/>
          </a:prstGeom>
          <a:solidFill>
            <a:srgbClr val="E8FFF5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01168" y="14904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WGC-Net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29968" y="1490472"/>
            <a:ext cx="1234440" cy="457200"/>
          </a:xfrm>
          <a:prstGeom prst="rect">
            <a:avLst/>
          </a:prstGeom>
          <a:solidFill>
            <a:srgbClr val="CCFFE8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029968" y="14904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64408" y="1490472"/>
            <a:ext cx="960120" cy="457200"/>
          </a:xfrm>
          <a:prstGeom prst="rect">
            <a:avLst/>
          </a:prstGeom>
          <a:solidFill>
            <a:srgbClr val="E8FFF5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64408" y="149047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24528" y="1490472"/>
            <a:ext cx="960120" cy="457200"/>
          </a:xfrm>
          <a:prstGeom prst="rect">
            <a:avLst/>
          </a:prstGeom>
          <a:solidFill>
            <a:srgbClr val="CCFFE8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224528" y="149047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84648" y="1490472"/>
            <a:ext cx="1508760" cy="457200"/>
          </a:xfrm>
          <a:prstGeom prst="rect">
            <a:avLst/>
          </a:prstGeom>
          <a:solidFill>
            <a:srgbClr val="E8FFF5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184648" y="14904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/ Multi-scale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93408" y="1490472"/>
            <a:ext cx="2249424" cy="457200"/>
          </a:xfrm>
          <a:prstGeom prst="rect">
            <a:avLst/>
          </a:prstGeom>
          <a:solidFill>
            <a:srgbClr val="CCFFE8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93408" y="1490472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boundary guidance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1168" y="2011680"/>
            <a:ext cx="4297680" cy="1188720"/>
          </a:xfrm>
          <a:prstGeom prst="rect">
            <a:avLst/>
          </a:prstGeom>
          <a:solidFill>
            <a:srgbClr val="F0F6FF"/>
          </a:solidFill>
          <a:ln w="19050">
            <a:solidFill>
              <a:srgbClr val="A0C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01168" y="2011680"/>
            <a:ext cx="429768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92608" y="2039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CBAM CNN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92608" y="2331720"/>
            <a:ext cx="411480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images through two parallel streams. Stream A: deep RGB CNN with CBAM attention. Stream B: frozen 3×3 Laplacian filter for high-frequency noise. Fused at FC layer — near-perfect precision/recall confirms this is highly effective.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645152" y="2011680"/>
            <a:ext cx="4297680" cy="1188720"/>
          </a:xfrm>
          <a:prstGeom prst="rect">
            <a:avLst/>
          </a:prstGeom>
          <a:solidFill>
            <a:srgbClr val="FFF8E7"/>
          </a:solidFill>
          <a:ln w="1905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645152" y="2011680"/>
            <a:ext cx="429768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36592" y="2039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WGC-Net (Wavelet-Guided Cross-Attn)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36592" y="2331720"/>
            <a:ext cx="411480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frozen Haar Wavelet Extractor to generate mathematical edge &amp; frequency boundaries, injected into the spatial CNN at three depths. Marginally lower accuracy but stronger inductive bias against blending artifacts via early multi-scale fusion.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201168" y="3291840"/>
            <a:ext cx="8741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Considerations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01168" y="3630168"/>
            <a:ext cx="2871216" cy="1188720"/>
          </a:xfrm>
          <a:prstGeom prst="rect">
            <a:avLst/>
          </a:prstGeom>
          <a:solidFill>
            <a:srgbClr val="FDECEA"/>
          </a:solidFill>
          <a:ln w="19050">
            <a:solidFill>
              <a:srgbClr val="E86A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10896" y="3685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Compression Variance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10896" y="39502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H.264 video compression destroys high-frequency artifacts both models rely on (DFDC, FF++).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82112" y="3630168"/>
            <a:ext cx="2871216" cy="1188720"/>
          </a:xfrm>
          <a:prstGeom prst="rect">
            <a:avLst/>
          </a:prstGeom>
          <a:solidFill>
            <a:srgbClr val="EAF2FF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91840" y="3685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Generation Methods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91840" y="39502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DFDC uses face-swapping / localized manipulation vs. fully synthesized StyleGAN faces.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63056" y="3630168"/>
            <a:ext cx="2871216" cy="1188720"/>
          </a:xfrm>
          <a:prstGeom prst="rect">
            <a:avLst/>
          </a:prstGeom>
          <a:solidFill>
            <a:srgbClr val="EAF9F0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72784" y="3685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  Environmental Noise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72784" y="39502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blur, variable lighting, and camera noise confuse the Laplacian and Wavelet extractors.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1168" y="4873752"/>
            <a:ext cx="8741664" cy="256032"/>
          </a:xfrm>
          <a:prstGeom prst="rect">
            <a:avLst/>
          </a:prstGeom>
          <a:solidFill>
            <a:srgbClr val="E8F8F0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20040" y="489204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Both architectures </a:t>
            </a:r>
            <a:r>
              <a:rPr lang="en-US" sz="1000" b="1" dirty="0">
                <a:solidFill>
                  <a:srgbClr val="1A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isolate mathematical noise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memorizing RGB patterns — making them more generalizable than standard CNNs.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948</Words>
  <Application>Microsoft Office PowerPoint</Application>
  <PresentationFormat>On-screen Show (16:9)</PresentationFormat>
  <Paragraphs>256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Detection — Dual-Stream CBAM CNN &amp; WGC-Net</dc:title>
  <dc:subject>PptxGenJS Presentation</dc:subject>
  <dc:creator>PptxGenJS</dc:creator>
  <cp:lastModifiedBy>Sparsh rastogi</cp:lastModifiedBy>
  <cp:revision>2</cp:revision>
  <dcterms:created xsi:type="dcterms:W3CDTF">2026-04-16T18:04:26Z</dcterms:created>
  <dcterms:modified xsi:type="dcterms:W3CDTF">2026-04-17T14:43:06Z</dcterms:modified>
</cp:coreProperties>
</file>